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notesMaster" Target="notesMasters/notesMaster1.xml" /><Relationship Id="rId47" Type="http://schemas.openxmlformats.org/officeDocument/2006/relationships/viewProps" Target="viewProps.xml" /><Relationship Id="rId46" Type="http://schemas.openxmlformats.org/officeDocument/2006/relationships/presProps" Target="presProps.xml" /><Relationship Id="rId1" Type="http://schemas.openxmlformats.org/officeDocument/2006/relationships/slideMaster" Target="slideMasters/slideMaster1.xml" /><Relationship Id="rId49" Type="http://schemas.openxmlformats.org/officeDocument/2006/relationships/tableStyles" Target="tableStyles.xml" /><Relationship Id="rId4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현장체험학습은 교실 밖 현장에서 지식을 실천하고 삶의 역량을 키우는 중요한 교육과정입니다. 특히 2025학년도 매뉴얼은 학생의 자율성과 안전을 최우선으로 하며, 이탈리아의 역사적 유적과 스위스의 자연환경을 연계한 글로벌 탐방 활동이 교육적 목적으로 부합함을 명시하고 있습니다.</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운영 규모는 학생들의 안전 인프라 확보와 직결됩니다. 소규모 운영을 권장하는 이유는 사고 예방이 용이하고 학생 개개인에게 깊이 있는 체험을 제공하기 위해서입니다. 특히 국외 활동은 90%라는 높은 학부모 동의가 필수적인 엄격한 절차를 거칩니다.</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체계적인 절차 준수는 행정의 투명성과 학생 안전을 보장합니다. 계획 수립부터 사후 평가까지 각 단계는 유기적으로 연결되어 있으며, 특히 사전 답사와 위원회 심의는 부실한 프로그램이나 위험 요소를 사전에 차단하는 핵심적인 장치입니다.</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유럽과 같은 장거리 탐방은 국내보다 세밀한 행정력이 요구됩니다. 여권 사본 관리, 비자 확인뿐만 아니라 현지 영사관과의 긴밀한 네트워크 구축이 필수입니다. 단순한 방문을 넘어 사전 프로젝트 수업을 통해 학습 효과를 높이는 것이 매뉴얼의 권장 사항입니다.</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안전요원은 학생들의 생명을 보호하는 보조 인력입니다. 교육 이수 여부와 신원 확인은 선택이 아닌 의무이며, 특히 국외에서는 언어 장벽이나 현지 지형의 생소함으로 인해 전문성을 갖춘 요원의 역할이 더욱 중요해집니다.</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사전 답사는 ’백문이 불여일견’의 원칙이 적용되는 과정입니다. 서류상의 정보만 믿지 말고 실제 학생들이 머물 방의 방충망 상태부터 화장실의 위생까지 꼼꼼하게 살펴야 사고 없는 즐거운 체험학습이 가능합니다.</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여행자 보험은 만약의 사태에 대비한 최소한의 안전장치입니다. 가입 여부 확인뿐만 아니라 보장 금액이 실질적인 치료비나 배상액을 충당할 수 있는지 꼼꼼히 확인해야 하며, 인솔자도 반드시 포함되어야 함을 잊지 마십시오.</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이탈리아와 같은 유명 관광지에서는 한국인 학생 단체가 주요 표적이 되기 쉽습니다. 단순히 조심하라는 말보다 스트랩이나 자물쇠 같은 물리적인 방어 도구를 갖추게 하는 것이 실질적인 분실 방지 대책이 됩니다.</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최근 유럽은 현금보다 카드 사용이 일반적입니다. 트래블 월렛과 같은 카드는 환전 수수료가 없고 실시간으로 충전할 수 있어 학생 단체 여행에 매우 효율적입니다. 다만, 스위스 프랑 동전은 나중에 환전이 어려우므로 현지에서 모두 사용하도록 지도하십시오.</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스위스는 세계 최고의 철도 시스템을 자랑하지만 비용 또한 매우 비쌉니다. 일정에 맞는 패스 하나만 잘 골라도 학생 1인당 수십만 원의 경비를 절감할 수 있습니다. SBB 앱은 유럽 여행의 필수 도구이므로 사전에 숙달이 필요합니다.</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알프스 지역은 날씨가 여행의 80%를 결정합니다. 고집스럽게 일정을 고수하기보다 맑은 날 산에 오르고 흐린 날은 마을이나 박물관을 가는 지혜가 필요합니다. 또한 고산 지대의 기온은 지상보다 10도 이상 낮으므로 여벌의 옷이 필수입니다.</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스위스의 박물관들은 단순히 보는 곳이 아니라 만지고 체험하는 공간입니다. 루체른 교통 박물관은 그 규모와 내실 면에서 세계적인 수준이며, 초콜릿과 치즈 박물관은 학생들의 선호도가 가장 높은 교육 장소 중 하나입니다.</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이탈리아는 도시 전체가 거대한 박물관입니다. 텍스트로만 배우던 역사를 현장에서 직접 확인하는 과정은 학생들에게 강렬한 동기부여가 됩니다. 르네상스의 발상지에서 인간 중심적 사고의 가치를 배우는 시간은 무엇보다 소중합니다.</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바티칸 투어는 하루에 다 보기 힘들 정도로 방대합니다. 따라서 아이들의 집중력을 고려해 핵심 작품 위주로 동선을 짜는 것이 중요합니다. 시스티나 성당 내에서는 정숙이 원칙이므로 사전 교육을 통해 공공장소 예절을 익히게 하십시오.</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계약은 학교 행정의 청렴도를 평가받는 지점입니다. 특히 국외 여행은 변수가 많으므로 단순히 가격만 보기보다는 ’2단계 입찰’을 통해 업체의 수행 능력을 먼저 검증하는 것이 학생들의 안전과 여행의 질을 보장하는 길입니다.</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청렴은 모든 교육 행정의 기반입니다. 사소한 편의 제공이 학교 전체의 신뢰도를 무너뜨릴 수 있음을 명심해야 합니다. 특히 차량 연식과 같은 민감한 사항은 법적 기준 내에서 유연하게 적용하여 공정한 경쟁이 이루어지도록 해야 합니다.</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비상시에는 당황하지 않는 것이 가장 중요합니다. 사전에 배부된 매뉴얼의 연락망을 즉시 가동하고, 학생들의 동요를 막기 위해 교사들이 침착하게 행동해야 합니다. 보고 누락은 나중에 더 큰 책임을 부를 수 있으니 즉시 보고가 원칙입니다.</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건강은 탐방의 즐거움을 유지하는 근간입니다. 특히 국외에서는 사소한 배탈도 큰 문제로 이어질 수 있으므로 위생 관리에 철저를 기해야 합니다. 스위스 수돗물은 마실 수 있다고 알려져 있지만, 석회수가 몸에 맞지 않는 학생들에게는 생수 이용을 권장하십시오.</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최근 기후 변화나 감염병으로 인해 여행 취소가 빈번해지고 있습니다. 계약 시 반드시 표준약관을 적용하고, ’불가항력’에 대한 해석 범위를 업체와 명확히 해두어야 위약금 분쟁으로부터 학교와 학부모를 보호할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예산이 한정된 체험학습에서 지자체 인센티브는 가뭄의 단비와 같습니다. 단순히 지원금뿐만 아니라 ’안심 서비스’와 같은 안전 점검 결과는 학교운영위원회 심의 시 계획의 안전성을 입증하는 강력한 근거 자료가 됩니다.</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행정의 마무리는 시작만큼이나 중요합니다. 특히 이탈리아와 스위스를 다녀온 후 학생들이 느낀 생생한 감동이 보고서로 승화될 수 있도록 지도해 주십시오. 투명한 정산과 만족도 결과 공개는 학교 현장체험학습의 질을 지속적으로 높이는 원동력이 됩니다.</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현장체험학습 개요</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정의 및 운영 목적</a:t>
            </a:r>
          </a:p>
        </p:txBody>
      </p:sp>
      <p:sp>
        <p:nvSpPr>
          <p:cNvPr id="3" name="Content Placeholder 2"/>
          <p:cNvSpPr>
            <a:spLocks noGrp="1"/>
          </p:cNvSpPr>
          <p:nvPr>
            <p:ph idx="1"/>
          </p:nvPr>
        </p:nvSpPr>
        <p:spPr/>
        <p:txBody>
          <a:bodyPr/>
          <a:lstStyle/>
          <a:p>
            <a:pPr lvl="0"/>
            <a:r>
              <a:rPr/>
              <a:t>학교 교육과정과 연계하여 학교 밖에서 이루어지는 모든 교육적 활동을 통한 개인의 잠재력 계발 및 전인적 성장 도모,</a:t>
            </a:r>
          </a:p>
          <a:p>
            <a:pPr lvl="0"/>
            <a:r>
              <a:rPr/>
              <a:t>학생 중심의 다채로운 체험 활동 기회를 제공하여 개별 학생의 꿈과 끼를 키우고 창의적인 사고와 자율적 탐구 역량 함양,</a:t>
            </a:r>
          </a:p>
          <a:p>
            <a:pPr lvl="0"/>
            <a:r>
              <a:rPr/>
              <a:t>학교 안팎의 조화로운 교육 환경 조성을 통해 지식의 외연을 넓히고 공동체 의식과 민주 시민으로서의 핵심 가치 습득,</a:t>
            </a:r>
          </a:p>
          <a:p>
            <a:pPr lvl="0"/>
            <a:r>
              <a:rPr/>
              <a:t>이탈리아와 스위스 등 국외 현지 탐방을 통해 글로벌 인문학적 식견을 넓히고 세계 문화유산에 대한 이해도 증진 및 시야 확장</a:t>
            </a:r>
          </a:p>
          <a:p>
            <a:pPr lvl="0"/>
            <a:r>
              <a:rPr/>
              <a:t>전라남도교육청의 운영 지침을 엄격히 준수하여 모든 학생이 안전하고 청렴한 환경 속에서 내실 있는 학습 활동을 수행하도록 관리,</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유형 및 규모</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활동 분류 및 허용 기준</a:t>
            </a:r>
          </a:p>
        </p:txBody>
      </p:sp>
      <p:sp>
        <p:nvSpPr>
          <p:cNvPr id="3" name="Content Placeholder 2"/>
          <p:cNvSpPr>
            <a:spLocks noGrp="1"/>
          </p:cNvSpPr>
          <p:nvPr>
            <p:ph idx="1"/>
          </p:nvPr>
        </p:nvSpPr>
        <p:spPr/>
        <p:txBody>
          <a:bodyPr/>
          <a:lstStyle/>
          <a:p>
            <a:pPr lvl="0"/>
            <a:r>
              <a:rPr/>
              <a:t>숙박 여부에 따라 수학여행, 수련활동과 같은 숙박형 활동과 당일로 진행되는 비숙박형 1일형 현장체험학습으로 구분하여 운영</a:t>
            </a:r>
          </a:p>
          <a:p>
            <a:pPr lvl="0"/>
            <a:r>
              <a:rPr/>
              <a:t>수학여행은 학생 100명 미만의 소규모 테마형 운영을 기본 원칙으로 설정하여 안전 관리의 효율성과 교육적 집중도 극대화,</a:t>
            </a:r>
          </a:p>
          <a:p>
            <a:pPr lvl="0"/>
            <a:r>
              <a:rPr/>
              <a:t>150명 이상의 대규모 활동이나 국외 수학여행은 원칙적으로 지양하되 학부모 동의율 90% 이상 확보 시 조건부로 추진 가능,</a:t>
            </a:r>
          </a:p>
          <a:p>
            <a:pPr lvl="0"/>
            <a:r>
              <a:rPr/>
              <a:t>대규모 및 국외 수학여행 추진 학교는 계획 수립 단계에서 교육청 지원단의 컨설팅을 반드시 이수하여 계획의 적정성 사전 검증,</a:t>
            </a:r>
          </a:p>
          <a:p>
            <a:pPr lvl="0"/>
            <a:r>
              <a:rPr/>
              <a:t>수련활동은 시설의 수용 능력을 고려하여 규모 제한 없이 운영 가능하나 안전 전문 인력 배치 등 공통 안전 수칙은 동일 적용,</a:t>
            </a:r>
          </a:p>
          <a:p>
            <a:pPr lvl="0" indent="0" marL="0">
              <a:buNone/>
            </a:pPr>
            <a:r>
              <a:rPr b="1"/>
              <a:t>표 1. 수학여행 규모별 운영 기준 요약</a:t>
            </a:r>
            <a:r>
              <a:rPr/>
              <a:t> | 구분 | 소규모 | 중규모 | 대규모 | 국외 | | :— | :—: | :—: | :—: | :—: | | 학생 수 | 100명 미만 | 100~149명 | 150명 이상 | 제한 없음 | | 학부모 동의 | 학교 자율 | 80% 이상 | 90% 이상 | 90% 이상 | | 사전 컨설팅 | 권장 | 권장 | </a:t>
            </a:r>
            <a:r>
              <a:rPr b="1"/>
              <a:t>의무</a:t>
            </a:r>
            <a:r>
              <a:rPr/>
              <a:t> | </a:t>
            </a:r>
            <a:r>
              <a:rPr b="1"/>
              <a:t>의무</a:t>
            </a:r>
            <a:r>
              <a:rPr/>
              <a:t> |</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추진 절차</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유형별 업무 흐름도</a:t>
            </a:r>
          </a:p>
        </p:txBody>
      </p:sp>
      <p:sp>
        <p:nvSpPr>
          <p:cNvPr id="3" name="Content Placeholder 2"/>
          <p:cNvSpPr>
            <a:spLocks noGrp="1"/>
          </p:cNvSpPr>
          <p:nvPr>
            <p:ph idx="1"/>
          </p:nvPr>
        </p:nvSpPr>
        <p:spPr/>
        <p:txBody>
          <a:bodyPr/>
          <a:lstStyle/>
          <a:p>
            <a:pPr lvl="0"/>
            <a:r>
              <a:rPr/>
              <a:t>학생 선호도 조사 및 학부모 동의를 거쳐 방문 지역과 목적을 설정하고 학교 내부 결재를 통해 기본 계획 수립 완료,</a:t>
            </a:r>
          </a:p>
          <a:p>
            <a:pPr lvl="0"/>
            <a:r>
              <a:rPr/>
              <a:t>숙박형 및 고위험 활동의 경우 담당자가 현장을 직접 방문하여 시설의 안전 상태와 위생을 점검하는 사전 답사 1회 이상 실시,</a:t>
            </a:r>
          </a:p>
          <a:p>
            <a:pPr lvl="0"/>
            <a:r>
              <a:rPr/>
              <a:t>교원, 학부모, 학생 대표로 구성된 현장체험학습위원회를 운영하여 일정, 장소, 경비, 업체 선정 방식 등의 적절성 심의,</a:t>
            </a:r>
          </a:p>
          <a:p>
            <a:pPr lvl="0"/>
            <a:r>
              <a:rPr/>
              <a:t>사전 답사 결과와 수집된 의견을 바탕으로 학교운영위원회의 최종 심의를 거친 후 관련 계획서를 학교 홈페이지에 투명하게 공개,</a:t>
            </a:r>
          </a:p>
          <a:p>
            <a:pPr lvl="0"/>
            <a:r>
              <a:rPr/>
              <a:t>체험학습 종료 후 10일 이내에 경비를 정산하고 만족도 설문 조사 결과를 분석하여 도교육청 홈페이지에 실적 보고 및 공개,</a:t>
            </a:r>
          </a:p>
          <a:p>
            <a:pPr lvl="0" indent="0" marL="0">
              <a:buNone/>
            </a:pPr>
            <a:r>
              <a:rPr b="1"/>
              <a:t>[국외 체험학습 추진 흐름]</a:t>
            </a:r>
            <a:r>
              <a:rPr/>
              <a:t> [기본계획] -&gt; [컨설팅/답사] -&gt; [운영위 심의] -&gt; [계약/보험] -&gt; [사전교육] -&gt; [현지실행] -&gt; [사후공개],</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국외 체험학습 특수 절차</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이탈리아·스위스 탐방 준비</a:t>
            </a:r>
          </a:p>
        </p:txBody>
      </p:sp>
      <p:sp>
        <p:nvSpPr>
          <p:cNvPr id="3" name="Content Placeholder 2"/>
          <p:cNvSpPr>
            <a:spLocks noGrp="1"/>
          </p:cNvSpPr>
          <p:nvPr>
            <p:ph idx="1"/>
          </p:nvPr>
        </p:nvSpPr>
        <p:spPr/>
        <p:txBody>
          <a:bodyPr/>
          <a:lstStyle/>
          <a:p>
            <a:pPr lvl="0"/>
            <a:r>
              <a:rPr/>
              <a:t>외교부 해외안전여행 사이트를 통해 이탈리아와 스위스의 여행 경보 단계를 확인하고 3단계 이상인 지역은 계획에서 즉시 제외,</a:t>
            </a:r>
          </a:p>
          <a:p>
            <a:pPr lvl="0"/>
            <a:r>
              <a:rPr/>
              <a:t>교직원 동행 인원에 대해 공무국외출장 승인 절차를 40일 전까지 완료하며 교육감 또는 학교장의 내부 허가 문서 비치,</a:t>
            </a:r>
          </a:p>
          <a:p>
            <a:pPr lvl="0"/>
            <a:r>
              <a:rPr/>
              <a:t>방문국의 역사, 문화와 연계된 교과 프로젝트 수업을 탐방 전 실시하여 단순 관광이 아닌 내실 있는 국외 교육 활동으로 운영</a:t>
            </a:r>
          </a:p>
          <a:p>
            <a:pPr lvl="0"/>
            <a:r>
              <a:rPr/>
              <a:t>현지 로밍이나 유심칩 구매를 통해 인솔자와 학생 간의 24시간 실시간 연락 체계를 구축하고 현지 대사관 비상 연락망 확보,</a:t>
            </a:r>
          </a:p>
          <a:p>
            <a:pPr lvl="0"/>
            <a:r>
              <a:rPr/>
              <a:t>장거리 비행에 대비한 기내 안전 교육과 현지 감염병 예방 접종 정보를 학생들에게 사전에 안내하여 건강한 탐방 환경 조성,</a:t>
            </a:r>
          </a:p>
          <a:p>
            <a:pPr lvl="0" indent="0" marL="0">
              <a:buNone/>
            </a:pPr>
            <a:r>
              <a:rPr b="1"/>
              <a:t>실무 예시: 국외 수학여행 계획 사전 보고서 항목</a:t>
            </a:r>
            <a:r>
              <a:rPr/>
              <a:t> - 대상 국가 및 주요 경유지 (예: 이탈리아 로마, 스위스 인터라켄 일원) - 1인당 예상 경비 및 인솔자 여비 반영 여부 - 현지 비상 연락망 (재외공관 및 응급 의료기관 정보) - 불참 학생을 위한 별도의 학교 내 대체 프로그램 운영 계획,</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안전요원 배치 기준</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인력 운영 및 자격 요건</a:t>
            </a:r>
          </a:p>
        </p:txBody>
      </p:sp>
      <p:sp>
        <p:nvSpPr>
          <p:cNvPr id="3" name="Content Placeholder 2"/>
          <p:cNvSpPr>
            <a:spLocks noGrp="1"/>
          </p:cNvSpPr>
          <p:nvPr>
            <p:ph idx="1"/>
          </p:nvPr>
        </p:nvSpPr>
        <p:spPr/>
        <p:txBody>
          <a:bodyPr/>
          <a:lstStyle/>
          <a:p>
            <a:pPr lvl="0"/>
            <a:r>
              <a:rPr/>
              <a:t>국내외 모든 수학여행 시 학생 50명당 최소 1명의 안전요원을 의무 배치하며 대규모 활동 시 버스 1대당 1인 배치를 강력 권장,</a:t>
            </a:r>
          </a:p>
          <a:p>
            <a:pPr lvl="0"/>
            <a:r>
              <a:rPr/>
              <a:t>안전요원은 심폐소생술 및 응급처치 등 관련 교육을 이수한 전문가여야 하며 채용 전 성범죄 및 아동학대 경력 조회 필수 실시,</a:t>
            </a:r>
          </a:p>
          <a:p>
            <a:pPr lvl="0"/>
            <a:r>
              <a:rPr/>
              <a:t>국외 탐방의 경우 운영 규모와 상관없이 50명당 1명 이상의 안전요원을 전담 배치하여 낯선 환경에서의 돌발 사고에 신속 대응,</a:t>
            </a:r>
          </a:p>
          <a:p>
            <a:pPr lvl="0"/>
            <a:r>
              <a:rPr/>
              <a:t>소규모 분산 이동 중 숙박지에서 일시 합류하여 대규모 인원을 구성할 경우 숙소 내 안전 확보를 위한 추가 인력 배치 의무,</a:t>
            </a:r>
          </a:p>
          <a:p>
            <a:pPr lvl="0"/>
            <a:r>
              <a:rPr/>
              <a:t>안전요원은 인솔 교사의 지도를 보조하며 주간 이동 중 안전 통제 및 야간 생활 지도를 통해 학생들의 무단이탈과 사고 방지,</a:t>
            </a:r>
          </a:p>
          <a:p>
            <a:pPr lvl="0" indent="0" marL="0">
              <a:buNone/>
            </a:pPr>
            <a:r>
              <a:rPr b="1"/>
              <a:t>표 2. 현장체험학습 안전요원 배치 기준 요약</a:t>
            </a:r>
            <a:r>
              <a:rPr/>
              <a:t> | 활동 유형 | 배치 기준 (학생 수 대비) | 비고 | | :— | :—: | :— | | 국내 수학여행 | 50명당 1명 이상 (의무) | 버스 1대당 1인 권장 | | 국외 수학여행 | 50명당 1명 이상 (의무) | 규모 무관 필수 적용 | | 수련활동 | 시설 내 지도자 배치 가능 | 시설 외부 활동 시 기준 준수 | | 1일형 활동 | 1명 이상 배치 (권장) | 고위험 활동 시 의무화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사전 답사 요령</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현장 점검 필수 항목</a:t>
            </a:r>
          </a:p>
        </p:txBody>
      </p:sp>
      <p:sp>
        <p:nvSpPr>
          <p:cNvPr id="3" name="Content Placeholder 2"/>
          <p:cNvSpPr>
            <a:spLocks noGrp="1"/>
          </p:cNvSpPr>
          <p:nvPr>
            <p:ph idx="1"/>
          </p:nvPr>
        </p:nvSpPr>
        <p:spPr/>
        <p:txBody>
          <a:bodyPr/>
          <a:lstStyle/>
          <a:p>
            <a:pPr lvl="0"/>
            <a:r>
              <a:rPr/>
              <a:t>숙박 시설과 체험 장소를 직접 방문하여 소방시설 작동 여부, 비상 대피로 확보 상태, 완강기 비치 등을 육안으로 상세히 점검,</a:t>
            </a:r>
          </a:p>
          <a:p>
            <a:pPr lvl="0"/>
            <a:r>
              <a:rPr/>
              <a:t>이동 경로상의 교통사고 다발 지역이나 위험 구간을 파악하고 학교에서 각 목적지까지의 실제 소요 시간을 측정하여 일정에 반영,</a:t>
            </a:r>
          </a:p>
          <a:p>
            <a:pPr lvl="0"/>
            <a:r>
              <a:rPr/>
              <a:t>식당의 위생 상태, 조리실 청결도, 식단 구성의 적절성을 확인하여 집단 식중독 사고를 예방하고 HACCP 기준 준수 여부 확인,</a:t>
            </a:r>
          </a:p>
          <a:p>
            <a:pPr lvl="0"/>
            <a:r>
              <a:rPr/>
              <a:t>숙박지 주변에 청소년 유해 업소가 인접해 있는지 확인하고 야간 보안 관리 및 외부인 출입 통제 시스템의 작동 상태 점검,</a:t>
            </a:r>
          </a:p>
          <a:p>
            <a:pPr lvl="0"/>
            <a:r>
              <a:rPr/>
              <a:t>장애 학생이 참여할 경우 휠체어 접근성 및 장애인 전용 시설 설치 유무를 확인하여 모든 학생의 차별 없는 참여 보장,</a:t>
            </a:r>
          </a:p>
          <a:p>
            <a:pPr lvl="0" indent="0" marL="0">
              <a:buNone/>
            </a:pPr>
            <a:r>
              <a:rPr b="1"/>
              <a:t>표 3. 사전 답사 주요 점검 체크리스트</a:t>
            </a:r>
            <a:r>
              <a:rPr/>
              <a:t> | 점검 분야 | 세부 점검 항목 | 확인 방법 | | :— | :— | :—: | | 소방 안전 | 소방시설완공필증, 대피유도등 | 현장 작동 확인 | | 위생 관리 | 식당 HACCP 인증, 조리사 면허 | 서류 및 육안 점검 | | 보안 시설 | CCTV 작동, 야간 경비 인원 | 관리자 인터뷰 | | 주변 환경 | 유해업소 거리, 위험 지형 | 주변 도보 순찰 |</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보험 가입 및 보상</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여행자 보험 운영 지침</a:t>
            </a:r>
          </a:p>
        </p:txBody>
      </p:sp>
      <p:sp>
        <p:nvSpPr>
          <p:cNvPr id="3" name="Content Placeholder 2"/>
          <p:cNvSpPr>
            <a:spLocks noGrp="1"/>
          </p:cNvSpPr>
          <p:nvPr>
            <p:ph idx="1"/>
          </p:nvPr>
        </p:nvSpPr>
        <p:spPr/>
        <p:txBody>
          <a:bodyPr/>
          <a:lstStyle/>
          <a:p>
            <a:pPr lvl="0"/>
            <a:r>
              <a:rPr/>
              <a:t>숙박형 체험학습, 국외 수학여행 및 고위험 활동이 포함된 1일형 활동 시 참가 학생과 인솔자 전원에 대한 여행자 보험 가입 의무,</a:t>
            </a:r>
          </a:p>
          <a:p>
            <a:pPr lvl="0"/>
            <a:r>
              <a:rPr/>
              <a:t>사망, 후유장애, 의료비, 배상책임 등을 포괄하는 보장 범위를 설정하며 국외의 경우 현지 의료비 수준을 고려하여 보상 한도 상향,</a:t>
            </a:r>
          </a:p>
          <a:p>
            <a:pPr lvl="0"/>
            <a:r>
              <a:rPr/>
              <a:t>교육 활동에 참여하는 자원봉사자나 학부모, 외부 안전요원 등 모든 구성원을 피보험자에 포함시켜 사각지대 없는 보호망 구축</a:t>
            </a:r>
          </a:p>
          <a:p>
            <a:pPr lvl="0"/>
            <a:r>
              <a:rPr/>
              <a:t>체험학습 실시 전까지 보험 가입을 완료하고 보험증권 사본을 학교에 비치하며 보장 내용이 계약 조건과 일치하는지 재검토,</a:t>
            </a:r>
          </a:p>
          <a:p>
            <a:pPr lvl="0"/>
            <a:r>
              <a:rPr/>
              <a:t>사고 발생 시 보험 혜택을 신속하게 받을 수 있도록 청구 절차와 필요한 증빙 서류 목록을 담당 교사가 미리 숙지 및 관리</a:t>
            </a:r>
          </a:p>
          <a:p>
            <a:pPr lvl="0" indent="0" marL="0">
              <a:buNone/>
            </a:pPr>
            <a:r>
              <a:rPr b="1"/>
              <a:t>표 4. 보험 가입 대상 및 기준</a:t>
            </a:r>
            <a:r>
              <a:rPr/>
              <a:t> | 구분 | 숙박형/국외 | 고위험 1일형 | 일반 1일형 | | :— | :—: | :—: | :—: | | 가입 여부 | </a:t>
            </a:r>
            <a:r>
              <a:rPr b="1"/>
              <a:t>의무</a:t>
            </a:r>
            <a:r>
              <a:rPr/>
              <a:t> | </a:t>
            </a:r>
            <a:r>
              <a:rPr b="1"/>
              <a:t>의무</a:t>
            </a:r>
            <a:r>
              <a:rPr/>
              <a:t> | 권장 | | 가입 대상 | 학생, 교직원, 보조인력 전원 | 좌동 | 좌동 | | 보장 범위 | 상해·질병·배상 등 | 좌동 | 좌동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유럽 탐방 안전 장비</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소매치기 및 분실 방지</a:t>
            </a:r>
          </a:p>
        </p:txBody>
      </p:sp>
      <p:sp>
        <p:nvSpPr>
          <p:cNvPr id="3" name="Content Placeholder 2"/>
          <p:cNvSpPr>
            <a:spLocks noGrp="1"/>
          </p:cNvSpPr>
          <p:nvPr>
            <p:ph idx="1"/>
          </p:nvPr>
        </p:nvSpPr>
        <p:spPr/>
        <p:txBody>
          <a:bodyPr/>
          <a:lstStyle/>
          <a:p>
            <a:pPr lvl="0"/>
            <a:r>
              <a:rPr/>
              <a:t>유럽 도심 관광지 및 기차역 주변의 소매치기를 예방하기 위해 스프링 스트랩으로 지갑과 가방 지퍼를 상호 연결하여 고정</a:t>
            </a:r>
          </a:p>
          <a:p>
            <a:pPr lvl="0"/>
            <a:r>
              <a:rPr/>
              <a:t>핸드폰 도난 방지를 위해 어깨 스트랩이나 손목 스프링을 장착하고 보행 중에는 가급적 핸드폰 사용을 자제하는 생활 습관 지도</a:t>
            </a:r>
          </a:p>
          <a:p>
            <a:pPr lvl="0"/>
            <a:r>
              <a:rPr/>
              <a:t>기차나 버스 이동 시 캐리어를 보관 선반에 두고 이동할 때는 와이어 자물쇠를 활용하여 짐을 통째로 가져가는 범죄를 원천 차단</a:t>
            </a:r>
          </a:p>
          <a:p>
            <a:pPr lvl="0"/>
            <a:r>
              <a:rPr/>
              <a:t>여권과 비행기 표 등 주요 서류는 사본을 출력하여 별도의 가방에 분산 보관하고 사진을 찍어 개인 클라우드나 이메일에 저장</a:t>
            </a:r>
          </a:p>
          <a:p>
            <a:pPr lvl="0"/>
            <a:r>
              <a:rPr/>
              <a:t>가방은 등 뒤가 아닌 몸 앞쪽으로 매는 형태를 유지하며 식당이나 카페 의자에 가방을 걸어두는 행위를 절대 금지하도록 학생 교육</a:t>
            </a:r>
          </a:p>
          <a:p>
            <a:pPr lvl="0" indent="0" marL="0">
              <a:buNone/>
            </a:pPr>
            <a:r>
              <a:rPr b="1"/>
              <a:t>[유럽 여행 안전 인포그래픽]</a:t>
            </a:r>
            <a:r>
              <a:rPr/>
              <a:t> - 지갑연결: [지갑] — (스프링) — [가방 안쪽 고리] - 핸드폰안전: [핸드폰] === (어깨 스트랩) === [사용자 몸] - 수하물고정: [캐리어A] + [캐리어B] &lt;— (와이어 락) —&gt; [기차 고정대]</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스위스 통화 및 결제</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화폐 사용 및 환전 전략</a:t>
            </a:r>
          </a:p>
        </p:txBody>
      </p:sp>
      <p:sp>
        <p:nvSpPr>
          <p:cNvPr id="3" name="Content Placeholder 2"/>
          <p:cNvSpPr>
            <a:spLocks noGrp="1"/>
          </p:cNvSpPr>
          <p:nvPr>
            <p:ph idx="1"/>
          </p:nvPr>
        </p:nvSpPr>
        <p:spPr/>
        <p:txBody>
          <a:bodyPr/>
          <a:lstStyle/>
          <a:p>
            <a:pPr lvl="0"/>
            <a:r>
              <a:rPr/>
              <a:t>이탈리아는 유로(EUR)를, 스위스는 스위스 프랑(CHF)을 사용하므로 각각의 통화를 적절한 비율로 준비하여 화폐 혼선 방지</a:t>
            </a:r>
          </a:p>
          <a:p>
            <a:pPr lvl="0"/>
            <a:r>
              <a:rPr/>
              <a:t>스위스 내 대부분의 상점과 박물관에서 유로 결제가 가능하나 거스름돈은 스위스 프랑으로 지급되는 특성을 고려하여 소액 환전</a:t>
            </a:r>
          </a:p>
          <a:p>
            <a:pPr lvl="0"/>
            <a:r>
              <a:rPr/>
              <a:t>수수료 면제와 실시간 환전 혜택이 있는 트래블 체크카드를 주 결제 수단으로 활용하여 다량의 현금 소지에 따른 도난 리스크 감소</a:t>
            </a:r>
          </a:p>
          <a:p>
            <a:pPr lvl="0"/>
            <a:r>
              <a:rPr/>
              <a:t>소규모 상점 이용이나 유료 화장실(약 1.5~2프랑) 사용을 위해 최소한의 동전과 소액권을 상시 소지하도록 안내</a:t>
            </a:r>
          </a:p>
          <a:p>
            <a:pPr lvl="0"/>
            <a:r>
              <a:rPr/>
              <a:t>결제 시마다 카드 영수증을 챙기고 해외 사용 알림 서비스를 신청하여 부정 결제나 초과 인출 여부를 즉시 모니터링</a:t>
            </a:r>
          </a:p>
          <a:p>
            <a:pPr lvl="0" indent="0" marL="0">
              <a:buNone/>
            </a:pPr>
            <a:r>
              <a:rPr b="1"/>
              <a:t>표 5. 국가별 통화 정보 비교</a:t>
            </a:r>
            <a:r>
              <a:rPr/>
              <a:t> | 국가 | 통화 단위 | 주요 결제 수단 | 비고 | | :— | :—: | :— | :— | | 이탈리아 | 유로 (EUR) | 트래블 카드, 현금 | 소매치기 주의 | | 스위스 | 프랑 (CHF) | 트래블 카드, 유로 병용 | 고물가 대비 필요 | | 공통 | 해당 없음 | 모바일 결제(애플/구글페이) | 가맹점 확인 필수 |</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스위스 교통 패스 활용</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철도망 이용 및 패스 선택</a:t>
            </a:r>
          </a:p>
        </p:txBody>
      </p:sp>
      <p:sp>
        <p:nvSpPr>
          <p:cNvPr id="3" name="Content Placeholder 2"/>
          <p:cNvSpPr>
            <a:spLocks noGrp="1"/>
          </p:cNvSpPr>
          <p:nvPr>
            <p:ph idx="1"/>
          </p:nvPr>
        </p:nvSpPr>
        <p:spPr/>
        <p:txBody>
          <a:bodyPr/>
          <a:lstStyle/>
          <a:p>
            <a:pPr lvl="0"/>
            <a:r>
              <a:rPr/>
              <a:t>스위스 전역의 기차, 버스, 유람선을 무제한 이용할 수 있는 스위스 트래블 패스를 구매하여 개별 티켓 구매의 번거로움 해소</a:t>
            </a:r>
          </a:p>
          <a:p>
            <a:pPr lvl="0"/>
            <a:r>
              <a:rPr/>
              <a:t>500여 곳의 박물관 무료 입장 혜택이 포함된 패스 특성을 활용하여 우천 시 실내 학습 활동으로 유연하게 일정을 변경 가능</a:t>
            </a:r>
          </a:p>
          <a:p>
            <a:pPr lvl="0"/>
            <a:r>
              <a:rPr/>
              <a:t>융프라우 지역을 집중 탐방할 경우 한국인 전용 융프라우 VIP 패스를 통해 산악 열차 할인 및 컵라면 교환권 등 특화 혜택 누림</a:t>
            </a:r>
          </a:p>
          <a:p>
            <a:pPr lvl="0"/>
            <a:r>
              <a:rPr/>
              <a:t>스위스 철도청(SBB) 앱을 설치하여 플랫폼 번호와 실시간 열차 지연 정보를 확인하며 대규모 인원 이동의 정시성 확보</a:t>
            </a:r>
          </a:p>
          <a:p>
            <a:pPr lvl="0"/>
            <a:r>
              <a:rPr/>
              <a:t>부모나 인솔 교사와 동행하는 만 15세 미만 학생은 ’패밀리 카드’를 통해 대중교통을 무료로 이용할 수 있는 비용 절감 팁 활용</a:t>
            </a:r>
          </a:p>
          <a:p>
            <a:pPr lvl="0" indent="0" marL="0">
              <a:buNone/>
            </a:pPr>
            <a:r>
              <a:rPr b="1"/>
              <a:t>표 6. 주요 교통 패스 비교 요약</a:t>
            </a:r>
            <a:r>
              <a:rPr/>
              <a:t> | 항목 | 스위스 트래블 패스 | 융프라우 VIP 패스 | 유레일 패스 | | :— | :— | :— | :— | | 범위 | 스위스 전 지역 | 융프라우 특정 구간 | 유럽 여러 국가 연계 | | 혜택 | 박물관 500곳 무료 | 산악열차 100% 활용 | 국가 간 이동 용이 | | 추천 | 스위스 일주 탐방 | 알프스 집중 액티비티 | 이탈리아-스위스 연계 |</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스위스 알프스 탐방</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융프라우 지역 실무 가례</a:t>
            </a:r>
          </a:p>
        </p:txBody>
      </p:sp>
      <p:sp>
        <p:nvSpPr>
          <p:cNvPr id="3" name="Content Placeholder 2"/>
          <p:cNvSpPr>
            <a:spLocks noGrp="1"/>
          </p:cNvSpPr>
          <p:nvPr>
            <p:ph idx="1"/>
          </p:nvPr>
        </p:nvSpPr>
        <p:spPr/>
        <p:txBody>
          <a:bodyPr/>
          <a:lstStyle/>
          <a:p>
            <a:pPr lvl="0"/>
            <a:r>
              <a:rPr/>
              <a:t>융프라우요흐(Jungfraujoch)는 고산병 발생 위험이 있으므로 천천히 이동하며 충분한 수분 섭취와 체온 유지를 위한 방한복 준비 교육</a:t>
            </a:r>
          </a:p>
          <a:p>
            <a:pPr lvl="0"/>
            <a:r>
              <a:rPr/>
              <a:t>멘리헨(Mannlichen)의 완만한 하이킹 코스나 피르스트(First)의 액티비티를 통해 알프스의 자연 생태계를 직접 관찰하고 체험,</a:t>
            </a:r>
          </a:p>
          <a:p>
            <a:pPr lvl="0"/>
            <a:r>
              <a:rPr/>
              <a:t>기상 악화 시 산 정상 등반이 무의미하므로 매일 아침 웹캠을 통해 실시간 날씨를 확인하고 대체 일정을 가동하는 유연함 발휘</a:t>
            </a:r>
          </a:p>
          <a:p>
            <a:pPr lvl="0"/>
            <a:r>
              <a:rPr/>
              <a:t>융프라우 정상 우체통에서 한국으로 엽서를 보내는 체험 활동을 통해 해외 문화 교류에 대한 흥미 유발 및 감동 선사</a:t>
            </a:r>
          </a:p>
          <a:p>
            <a:pPr lvl="0"/>
            <a:r>
              <a:rPr/>
              <a:t>고도가 낮은 지역의 친환경 나무 놀이터(멘리헨 등)를 활용하여 학생들이 대자연 속에서 자율적으로 신체 활동을 즐기도록 유도</a:t>
            </a:r>
          </a:p>
          <a:p>
            <a:pPr lvl="0" indent="0" marL="0">
              <a:buNone/>
            </a:pPr>
            <a:r>
              <a:rPr b="1"/>
              <a:t>실무 예시: 융프라우 지역 맞춤 일정</a:t>
            </a:r>
            <a:r>
              <a:rPr/>
              <a:t> - 1일차: 인터라켄 도착 및 숙소 체크인, 호수 산책 - 2일차: 융프라우요흐 등반 및 얼음궁전 관람 (동신항운 쿠폰 활용) - 3일차: 피르스트 짚라인 체험 및 바흐알프제 호수 하이킹 - 4일차: 뮤렌 통나무 포토존 방문 및 자동차 없는 마을 탐방</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스위스 박물관 교육</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오감 만족 체험 코스</a:t>
            </a:r>
          </a:p>
        </p:txBody>
      </p:sp>
      <p:sp>
        <p:nvSpPr>
          <p:cNvPr id="3" name="Content Placeholder 2"/>
          <p:cNvSpPr>
            <a:spLocks noGrp="1"/>
          </p:cNvSpPr>
          <p:nvPr>
            <p:ph idx="1"/>
          </p:nvPr>
        </p:nvSpPr>
        <p:spPr/>
        <p:txBody>
          <a:bodyPr/>
          <a:lstStyle/>
          <a:p>
            <a:pPr lvl="0"/>
            <a:r>
              <a:rPr/>
              <a:t>루체른 교통 박물관(Swiss Museum of Transport)을 방문하여 육상, 해상, 항공 교통의 역사와 미래 기술을 직접 조작하며 학습</a:t>
            </a:r>
          </a:p>
          <a:p>
            <a:pPr lvl="0"/>
            <a:r>
              <a:rPr/>
              <a:t>취리히 린트 초콜릿 박물관(Lindt Home of Chocolate)에서 카카오의 역사와 제조 공정을 견학하고 다양한 초콜릿 무료 시식</a:t>
            </a:r>
          </a:p>
          <a:p>
            <a:pPr lvl="0"/>
            <a:r>
              <a:rPr/>
              <a:t>그뤼에르 치즈 공장(La Maison du Gruyere) 탐방을 통해 스위스 전통 낙농 산업의 특징을 이해하고 발효 식품의 과학 원리 체득</a:t>
            </a:r>
          </a:p>
          <a:p>
            <a:pPr lvl="0"/>
            <a:r>
              <a:rPr/>
              <a:t>바젤 장난감 세계 박물관을 통해 인형과 장난감에 투영된 시대별 사회 문화상과 디자인의 변천 과정을 인문학적으로 접근</a:t>
            </a:r>
          </a:p>
          <a:p>
            <a:pPr lvl="0"/>
            <a:r>
              <a:rPr/>
              <a:t>박물관 패스를 지참하여 입장 대기 시간을 줄이고 도슨트 프로그램 예약을 통해 전문 해설을 곁들인 깊이 있는 지식 습득 유도,</a:t>
            </a:r>
          </a:p>
          <a:p>
            <a:pPr lvl="0" indent="0" marL="0">
              <a:buNone/>
            </a:pPr>
            <a:r>
              <a:rPr b="1"/>
              <a:t>표 7. 테마별 추천 박물관 리스트</a:t>
            </a:r>
            <a:r>
              <a:rPr/>
              <a:t> | 테마 | 추천 장소 | 교육 포인트 | | :— | :— | :— | | 기술/교통 | 루체른 교통 박물관 | 모빌리티의 진화와 과학 원리 | | 식품 공학 | 린트 초콜릿 박물관 | 글로벌 식품 브랜드의 마케팅과 생산 | | 예술/디자인 | 바젤 장난감 박물관 | 세밀화된 수공예와 장난감의 역사 | | 전통 산업 | 그뤼에르 치즈 박물관 | 환경에 적응한 전통 낙농업의 가치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이탈리아 인문학 탐방</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역사와 예술의 중심지</a:t>
            </a:r>
          </a:p>
        </p:txBody>
      </p:sp>
      <p:sp>
        <p:nvSpPr>
          <p:cNvPr id="3" name="Content Placeholder 2"/>
          <p:cNvSpPr>
            <a:spLocks noGrp="1"/>
          </p:cNvSpPr>
          <p:nvPr>
            <p:ph idx="1"/>
          </p:nvPr>
        </p:nvSpPr>
        <p:spPr/>
        <p:txBody>
          <a:bodyPr/>
          <a:lstStyle/>
          <a:p>
            <a:pPr lvl="0"/>
            <a:r>
              <a:rPr/>
              <a:t>밀라노 두오모 성당과 스포르체스코성을 방문하여 고딕 건축의 정수와 중세 요새의 구조를 통해 유럽 역사의 흐름 이해</a:t>
            </a:r>
          </a:p>
          <a:p>
            <a:pPr lvl="0"/>
            <a:r>
              <a:rPr/>
              <a:t>피렌체 우피치 미술관 가이드 투어를 통해 르네상스 3대 거장(레오나르도, 미켈란젤로, 라파엘로)의 원화가 주는 예술적 감동 체험</a:t>
            </a:r>
          </a:p>
          <a:p>
            <a:pPr lvl="0"/>
            <a:r>
              <a:rPr/>
              <a:t>세계에서 가장 오래된 대학인 볼로냐 대학 거리를 거닐며 중세 대학의 탄생과 학문적 자유의 가치에 대한 인문학적 토론 실시</a:t>
            </a:r>
          </a:p>
          <a:p>
            <a:pPr lvl="0"/>
            <a:r>
              <a:rPr/>
              <a:t>로마 콜로세움과 포로로마노에서 고대 로마 제국의 시민 생활과 건축 공학 기술을 확인하며 역사적 통찰력 기르기</a:t>
            </a:r>
          </a:p>
          <a:p>
            <a:pPr lvl="0"/>
            <a:r>
              <a:rPr/>
              <a:t>도시 간 이동은 안전이 검증된 전용 버스(코우치)를 활용하고 운전자의 적격 여부와 차량 보험 가입 상태를 사전에 철저히 확인,</a:t>
            </a:r>
          </a:p>
          <a:p>
            <a:pPr lvl="0" indent="0" marL="0">
              <a:buNone/>
            </a:pPr>
            <a:r>
              <a:rPr b="1"/>
              <a:t>실무 예시: 이탈리아 주요 도시 교육 테마</a:t>
            </a:r>
            <a:r>
              <a:rPr/>
              <a:t> - 밀라노: 패션과 디자인의 근대성 및 고딕 예술 - 피렌체: 르네상스 인문학의 발흥과 메디치 가문 - 로마: 고대 문명의 유산과 가톨릭 문화의 중심 - 베네치아: 해상 무역의 역사와 환경 위기(지구온난화) 고찰</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바티칸 가이드 투어</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어린이 친화적 예술 교육</a:t>
            </a:r>
          </a:p>
        </p:txBody>
      </p:sp>
      <p:sp>
        <p:nvSpPr>
          <p:cNvPr id="3" name="Content Placeholder 2"/>
          <p:cNvSpPr>
            <a:spLocks noGrp="1"/>
          </p:cNvSpPr>
          <p:nvPr>
            <p:ph idx="1"/>
          </p:nvPr>
        </p:nvSpPr>
        <p:spPr/>
        <p:txBody>
          <a:bodyPr/>
          <a:lstStyle/>
          <a:p>
            <a:pPr lvl="0"/>
            <a:r>
              <a:rPr/>
              <a:t>아이들의 눈높이에 맞춰 제작된 ‘보물찾기’ 또는 ‘퀴즈’ 형식의 워크북을 활용하여 자칫 지루할 수 있는 박물관 투어를 흥미로운 놀이로 전환</a:t>
            </a:r>
          </a:p>
          <a:p>
            <a:pPr lvl="0"/>
            <a:r>
              <a:rPr/>
              <a:t>바티칸 박물관과 시스티나 성당의 방대한 인파를 피하기 위해 패스트 트랙(Fast Track) 서비스를 예약하여 불필요한 대기 시간 최소화</a:t>
            </a:r>
          </a:p>
          <a:p>
            <a:pPr lvl="0"/>
            <a:r>
              <a:rPr/>
              <a:t>시스티나 성당 천장화 ’천지창조’와 ’최후의 심판’을 감상하며 미켈란젤로의 인내와 창조적 고뇌에 대해 사색하는 시간 마련</a:t>
            </a:r>
          </a:p>
          <a:p>
            <a:pPr lvl="0"/>
            <a:r>
              <a:rPr/>
              <a:t>소규모 그룹으로 나누어 가이드의 설명을 듣게 함으로써 학생들이 자유롭게 질문하고 답변하는 상호작용형 교육 환경 제공</a:t>
            </a:r>
          </a:p>
          <a:p>
            <a:pPr lvl="0"/>
            <a:r>
              <a:rPr/>
              <a:t>성 베드로 대성당 내부를 탐방하며 르네상스와 바로크 양식의 화려한 건축미를 감상하고 인류의 소중한 문화유산 보전 의식 함양</a:t>
            </a:r>
          </a:p>
          <a:p>
            <a:pPr lvl="0" indent="0" marL="0">
              <a:buNone/>
            </a:pPr>
            <a:r>
              <a:rPr b="1"/>
              <a:t>[바티칸 투어 구조 인포그래픽]</a:t>
            </a:r>
            <a:r>
              <a:rPr/>
              <a:t> [예약 확인] -&gt; [우선 입장] -&gt; [지도방/라파엘로의 방] -&gt; [시스티나 성당] -&gt; [성 베드로 대성당]</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계약 방법 및 절차</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추정가격별 계약 기준</a:t>
            </a:r>
          </a:p>
        </p:txBody>
      </p:sp>
      <p:sp>
        <p:nvSpPr>
          <p:cNvPr id="3" name="Content Placeholder 2"/>
          <p:cNvSpPr>
            <a:spLocks noGrp="1"/>
          </p:cNvSpPr>
          <p:nvPr>
            <p:ph idx="1"/>
          </p:nvPr>
        </p:nvSpPr>
        <p:spPr/>
        <p:txBody>
          <a:bodyPr/>
          <a:lstStyle/>
          <a:p>
            <a:pPr lvl="0"/>
            <a:r>
              <a:rPr/>
              <a:t>모든 현장체험학습 관련 계약은 공정성과 투명성을 확보하기 위해 일반 입찰을 거치는 것이 원칙이며 조달청 시스템(G2B) 활용,</a:t>
            </a:r>
          </a:p>
          <a:p>
            <a:pPr lvl="0"/>
            <a:r>
              <a:rPr/>
              <a:t>추정가격 2천만 원 이하의 소액 계약인 경우 1인 견적서에 의한 수의계약이 가능하며 학교 여건에 따라 수기 또는 전자 계약 선택,</a:t>
            </a:r>
          </a:p>
          <a:p>
            <a:pPr lvl="0"/>
            <a:r>
              <a:rPr/>
              <a:t>2천만 원 초과 1억 원 이하의 용역은 2인 이상의 견적을 받아 최저가 업체를 낙찰자로 선정하며 지역 제한 등의 중복 제한 가능,</a:t>
            </a:r>
          </a:p>
          <a:p>
            <a:pPr lvl="0"/>
            <a:r>
              <a:rPr/>
              <a:t>1억 원을 초과하는 대규모 계약은 제한 입찰 또는 2단계 입찰을 통해 규격(제안서)과 가격을 분리 평가하여 적격 업체 선정,</a:t>
            </a:r>
          </a:p>
          <a:p>
            <a:pPr lvl="0"/>
            <a:r>
              <a:rPr/>
              <a:t>특정 업체에 특혜를 주기 위해 단일 사업을 부당하게 나누어 계약하는 편법적 분할 계약 행위는 관련 법령에 따라 엄격히 금지</a:t>
            </a:r>
          </a:p>
          <a:p>
            <a:pPr lvl="0" indent="0" marL="0">
              <a:buNone/>
            </a:pPr>
            <a:r>
              <a:rPr b="1"/>
              <a:t>표 8. 금액별 계약 방법 및 낙찰 하한율</a:t>
            </a:r>
            <a:r>
              <a:rPr/>
              <a:t> | 추정 가격 | 계약 방법 | 낙찰 하한율 | 비고 | | :— | :— | :—: | :— | | 2,000만 원 이하 | 1인 견적 수의계약 | 없음 | 수기/전자 가능 | | 2,000만 원 초과 ~ 1억 원 | 2인 이상 견적 수의계약 | 88% 이상 | 지정정보처리장치 필수 | | 1억 원 초과 | 일반(제한) 입찰 | 최저가 기준 | 적격심사 실시 | | 국외 여행 | 2단계 입찰 권장 | - | 제안서 평가 중요 |</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청렴성 및 공정성 확보</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부당 행위 근절 가이드</a:t>
            </a:r>
          </a:p>
        </p:txBody>
      </p:sp>
      <p:sp>
        <p:nvSpPr>
          <p:cNvPr id="3" name="Content Placeholder 2"/>
          <p:cNvSpPr>
            <a:spLocks noGrp="1"/>
          </p:cNvSpPr>
          <p:nvPr>
            <p:ph idx="1"/>
          </p:nvPr>
        </p:nvSpPr>
        <p:spPr/>
        <p:txBody>
          <a:bodyPr/>
          <a:lstStyle/>
          <a:p>
            <a:pPr lvl="0"/>
            <a:r>
              <a:rPr/>
              <a:t>관행적인 업무 처리나 편의 제공을 구실로 업체로부터 금품, 향응, 편의를 수수하는 행위를 절대 근절하고 청렴 서약서 징구,</a:t>
            </a:r>
          </a:p>
          <a:p>
            <a:pPr lvl="0"/>
            <a:r>
              <a:rPr/>
              <a:t>계약 업체와 소통 시 과도한 서류를 요구하거나 부당한 과업을 제시하는 행위를 지양하며 항상 친절하고 수평적인 자세 유지</a:t>
            </a:r>
          </a:p>
          <a:p>
            <a:pPr lvl="0"/>
            <a:r>
              <a:rPr/>
              <a:t>차량 입찰 공고 시 법적 요건인 차령(11년)을 준수하되, 5년 이하로 과도하게 제한하여 민원을 유발하고 청렴도를 하락시키지 않도록 주의</a:t>
            </a:r>
          </a:p>
          <a:p>
            <a:pPr lvl="0"/>
            <a:r>
              <a:rPr/>
              <a:t>현장 답사 시 업체에 숙식비를 전가하지 않고 학교 예산으로 정당하게 집행하며 여정 중에 발생한 모든 지출의 투명성 확보,</a:t>
            </a:r>
          </a:p>
          <a:p>
            <a:pPr lvl="0"/>
            <a:r>
              <a:rPr/>
              <a:t>활동 종료 후 인솔 교직원의 여비는 여비 규정에 따라 적정하게 지급하며 정산 내역과 설문 결과를 홈페이지에 공개하여 신뢰 제고,</a:t>
            </a:r>
          </a:p>
          <a:p>
            <a:pPr lvl="0" indent="0" marL="0">
              <a:buNone/>
            </a:pPr>
            <a:r>
              <a:rPr b="1"/>
              <a:t>실무 예시: 현장체험학습 청렴 실천 다짐</a:t>
            </a:r>
            <a:r>
              <a:rPr/>
              <a:t> - 하나, 공정한 업무수행에 장애가 되는 청탁을 원천 근절한다 - 하나, 직무수행의 공정성을 의심받을 수 있는 금품을 받지 않는다 - 하나, 관행적인 갑질 문화를 근절하고 사익보다 공익을 우선한다 - 하나, 음주운전을 방관하지 않으며 안전한 탐방 활동에 최선을 다한다</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비상 상황 대응 체계</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사고 발생 시 보고 절차</a:t>
            </a:r>
          </a:p>
        </p:txBody>
      </p:sp>
      <p:sp>
        <p:nvSpPr>
          <p:cNvPr id="3" name="Content Placeholder 2"/>
          <p:cNvSpPr>
            <a:spLocks noGrp="1"/>
          </p:cNvSpPr>
          <p:nvPr>
            <p:ph idx="1"/>
          </p:nvPr>
        </p:nvSpPr>
        <p:spPr/>
        <p:txBody>
          <a:bodyPr/>
          <a:lstStyle/>
          <a:p>
            <a:pPr lvl="0"/>
            <a:r>
              <a:rPr/>
              <a:t>인명 사고, 식중독, 전염병 등 사안 발생 시 인지 즉시 유선으로 관할 교육지원청과 도교육청에 보고하고 이후 서면 보고서 제출,</a:t>
            </a:r>
          </a:p>
          <a:p>
            <a:pPr lvl="0"/>
            <a:r>
              <a:rPr/>
              <a:t>현지 의료기관과의 24시간 연락 체계를 가동하여 환자 발생 시 즉각적으로 이송하고 보호자에게 학생 상태를 투명하고 상세히 공지,</a:t>
            </a:r>
          </a:p>
          <a:p>
            <a:pPr lvl="0"/>
            <a:r>
              <a:rPr/>
              <a:t>화재나 지진 등 재난 발생 시 임장하고 있던 인솔 교사의 지시에 따라 사전에 교육된 대피로를 통해 학생들이 질서 있게 탈출하도록 유도,</a:t>
            </a:r>
          </a:p>
          <a:p>
            <a:pPr lvl="0"/>
            <a:r>
              <a:rPr/>
              <a:t>사안 수습 과정에서 학생들의 심리적 안정을 도모하고 언론 보도나 경찰 조사에 대해서는 학교장의 지침에 따라 일관된 대응 체계 유지</a:t>
            </a:r>
          </a:p>
          <a:p>
            <a:pPr lvl="0"/>
            <a:r>
              <a:rPr/>
              <a:t>모든 사고 대응 과정은 육하원칙에 따라 기록하여 향후 사고 원인 분석 및 재발 방지를 위한 소중한 안전 교육 자료로 활용,</a:t>
            </a:r>
          </a:p>
          <a:p>
            <a:pPr lvl="0" indent="0" marL="0">
              <a:buNone/>
            </a:pPr>
            <a:r>
              <a:rPr b="1"/>
              <a:t>표 9. 사안 발생 시 보고 및 조치 프로세스</a:t>
            </a:r>
            <a:r>
              <a:rPr/>
              <a:t> | 단계 | 대응 활동 | 책임자 | | :—: | :— | :—: | | 1단계 | 응급 처치 및 119/현지 의료진 신고 | 현장 인솔자 | | 2단계 | 학교장 및 교육(지원)청 즉시 보고 | 인솔 책임자 | | 3단계 | 학부모 통보 및 현지 대책반 가동 | 학교장 | | 4단계 | 사후 보고서 제출 및 보험 처리 | 업무 담당자 |</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건강 및 위생 관리</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국외 감염병 및 식품 안전</a:t>
            </a:r>
          </a:p>
        </p:txBody>
      </p:sp>
      <p:sp>
        <p:nvSpPr>
          <p:cNvPr id="3" name="Content Placeholder 2"/>
          <p:cNvSpPr>
            <a:spLocks noGrp="1"/>
          </p:cNvSpPr>
          <p:nvPr>
            <p:ph idx="1"/>
          </p:nvPr>
        </p:nvSpPr>
        <p:spPr/>
        <p:txBody>
          <a:bodyPr/>
          <a:lstStyle/>
          <a:p>
            <a:pPr lvl="0"/>
            <a:r>
              <a:rPr/>
              <a:t>질병관리청의 ‘해외감염병 NOW’ 사이트를 통해 방문 국가의 최신 감염병 유행 정보를 확인하고 출국 전 필수 예방 접종 완료,</a:t>
            </a:r>
          </a:p>
          <a:p>
            <a:pPr lvl="0"/>
            <a:r>
              <a:rPr/>
              <a:t>이탈리아와 스위스의 식수(석회질) 특성에 주의하도록 교육하고 가급적 끓인 물이나 검증된 생수만을 마시도록 철저히 임장 지도,</a:t>
            </a:r>
          </a:p>
          <a:p>
            <a:pPr lvl="0"/>
            <a:r>
              <a:rPr/>
              <a:t>학생 개개인의 기저 질환과 알레르기 유무를 사전에 파악하여 비상 약품(구급함)을 상비하고 복용 중인 약물이 중단되지 않도록 관리,</a:t>
            </a:r>
          </a:p>
          <a:p>
            <a:pPr lvl="0"/>
            <a:r>
              <a:rPr/>
              <a:t>기온 변화가 심한 스위스 알프스 탐방 시 저체온증 예방을 위해 방한 장구 착용을 수시로 점검하고 충분한 휴식 시간 보장,</a:t>
            </a:r>
          </a:p>
          <a:p>
            <a:pPr lvl="0"/>
            <a:r>
              <a:rPr/>
              <a:t>귀국 후 일정 기간 학생들의 발열 등 건강 상태를 모니터링하며 감염병 의심 증상 발생 시 즉시 보건소에 신고하고 학교 내 전파 차단,</a:t>
            </a:r>
          </a:p>
          <a:p>
            <a:pPr lvl="0" indent="0" marL="0">
              <a:buNone/>
            </a:pPr>
            <a:r>
              <a:rPr b="1"/>
              <a:t>표 10. 국외 현장체험학습 건강 체크리스트</a:t>
            </a:r>
            <a:r>
              <a:rPr/>
              <a:t> | 항목 | 점검 내용 | 비고 | | :— | :— | :—: | | 예방 접종 | 방문국 권장 접종 완료 여부 | 출국 전 확인 | | 상비 약품 | 해열제, 소화기, 지병 관련 개인약 | 인솔자 휴대 | | 식수 위생 | 생수 구매 여부 및 가급적 가열 섭취 | 현지 수돗물 주의 | | 건강 모니터링 | 매일 오전/오후 발열 체크 기록 | 활동 일지 반영 |</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위약금 및 계약 해제</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불가항력적 사유 대응</a:t>
            </a:r>
          </a:p>
        </p:txBody>
      </p:sp>
      <p:sp>
        <p:nvSpPr>
          <p:cNvPr id="3" name="Content Placeholder 2"/>
          <p:cNvSpPr>
            <a:spLocks noGrp="1"/>
          </p:cNvSpPr>
          <p:nvPr>
            <p:ph idx="1"/>
          </p:nvPr>
        </p:nvSpPr>
        <p:spPr/>
        <p:txBody>
          <a:bodyPr/>
          <a:lstStyle/>
          <a:p>
            <a:pPr lvl="0"/>
            <a:r>
              <a:rPr/>
              <a:t>천재지변, 전란, 정부의 명령 등 불가항력적인 사유로 체험학습 목적 달성이 불가능한 경우 위약금 없이 계약금 환급 가능 여부 확인</a:t>
            </a:r>
          </a:p>
          <a:p>
            <a:pPr lvl="0"/>
            <a:r>
              <a:rPr/>
              <a:t>외교부가 방문 국가에 여행경보 3단계(철수권고) 이상을 발령할 경우 안전을 위해 계약을 해제하며 관련 규정에 따라 정산 진행</a:t>
            </a:r>
          </a:p>
          <a:p>
            <a:pPr lvl="0"/>
            <a:r>
              <a:rPr/>
              <a:t>감염병 발생으로 인해 계약을 해제할 경우 위약금 50% 감경 규정과 같은 공정거래위원회의 표준약관 준수 여부를 계약 시 명시</a:t>
            </a:r>
          </a:p>
          <a:p>
            <a:pPr lvl="0"/>
            <a:r>
              <a:rPr/>
              <a:t>일정 변경이나 취소에 따른 분쟁 발생 시 소비자분쟁해결기준을 근거로 업체와 협상하며 학교의 재정적 피해 최소화 노력,</a:t>
            </a:r>
          </a:p>
          <a:p>
            <a:pPr lvl="0"/>
            <a:r>
              <a:rPr/>
              <a:t>부득이한 사정으로 인원이 변동될 경우 계약서상의 실참가 인원 정산 조항을 활용하여 실제 집행된 비용만 지불하는 사후 정산 실시,</a:t>
            </a:r>
          </a:p>
          <a:p>
            <a:pPr lvl="0" indent="0" marL="0">
              <a:buNone/>
            </a:pPr>
            <a:r>
              <a:rPr b="1"/>
              <a:t>실무 예시: 위약금 감경 사유 요약</a:t>
            </a:r>
            <a:r>
              <a:rPr/>
              <a:t> - 외국 정부의 입금 금지 및 격리 조치 발령 시 (위약금 면제) - 외교부의 3·4단계 여행 경보 발령 시 (위약금 면제) - WHO의 팬데믹 선언으로 여행 이행이 상당히 어려운 경우 (위약금 50% 감경) - 운송·숙박 기관의 파업으로 인한 서비스 중단 시 (위약금 면제)</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인센티브 및 외부 지원</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지자체 연계 혜택 활용</a:t>
            </a:r>
          </a:p>
        </p:txBody>
      </p:sp>
      <p:sp>
        <p:nvSpPr>
          <p:cNvPr id="3" name="Content Placeholder 2"/>
          <p:cNvSpPr>
            <a:spLocks noGrp="1"/>
          </p:cNvSpPr>
          <p:nvPr>
            <p:ph idx="1"/>
          </p:nvPr>
        </p:nvSpPr>
        <p:spPr/>
        <p:txBody>
          <a:bodyPr/>
          <a:lstStyle/>
          <a:p>
            <a:pPr lvl="0"/>
            <a:r>
              <a:rPr/>
              <a:t>각 지방자치단체에서 수학여행단 유치를 위해 제공하는 숙박비, 관광지 입장료 지원금 등 인센티브 제도를 탐방 계획 수립 시 적극 검토,</a:t>
            </a:r>
          </a:p>
          <a:p>
            <a:pPr lvl="0"/>
            <a:r>
              <a:rPr/>
              <a:t>전북 투어매니저 지원 사업과 같이 학생 안전과 해설을 동시에 돕는 전문 인력 지원 프로그램을 신청하여 인솔 부담 경감 및 질적 향상</a:t>
            </a:r>
          </a:p>
          <a:p>
            <a:pPr lvl="0"/>
            <a:r>
              <a:rPr/>
              <a:t>제주, 경주, 강릉 등 주요 관광지에서 운영하는 ’안심 수학여행 서비스’를 통해 이용 시설의 안전 점검 결과를 사전에 확보,</a:t>
            </a:r>
          </a:p>
          <a:p>
            <a:pPr lvl="0"/>
            <a:r>
              <a:rPr/>
              <a:t>한국해양교통안전공단에서 제공하는 ’여객선 안심 여행 서비스’를 활용하여 선박 이동 시 안전 점검 및 찾아가는 안전 교육 지원,</a:t>
            </a:r>
          </a:p>
          <a:p>
            <a:pPr lvl="0"/>
            <a:r>
              <a:rPr/>
              <a:t>지자체 지원금 신청 시 필요한 영수증, 단체 사진, 만족도 결과 등의 증빙 서류를 빠짐없이 챙겨 활동 종료 후 신속하게 정산 신청</a:t>
            </a:r>
          </a:p>
          <a:p>
            <a:pPr lvl="0" indent="0" marL="0">
              <a:buNone/>
            </a:pPr>
            <a:r>
              <a:rPr b="1"/>
              <a:t>표 11. 주요 지자체 수학여행 인센티브 예시(2024)</a:t>
            </a:r>
            <a:r>
              <a:rPr/>
              <a:t> | 지자체 | 지원 기준 | 지원 금액 (인당) | 연락처 | | :— | :— | :—: | :— | | 인천광역시 | 20인 이상, 1박 이상 | 10,000 ~ 15,000원 | 032-899-7456 | | 강원 횡성군 | 15인 이상, 당일 이상 | 10,000 ~ 15,000원 | 033-340-5987 | | 전라북도 | 버스 1대당 매니저 1인 | 전문 인력 파견 지원 | 도청 여행지원팀 |</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사후 관리 및 평가</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결과 공개 및 차기 반영</a:t>
            </a:r>
          </a:p>
        </p:txBody>
      </p:sp>
      <p:sp>
        <p:nvSpPr>
          <p:cNvPr id="3" name="Content Placeholder 2"/>
          <p:cNvSpPr>
            <a:spLocks noGrp="1"/>
          </p:cNvSpPr>
          <p:nvPr>
            <p:ph idx="1"/>
          </p:nvPr>
        </p:nvSpPr>
        <p:spPr/>
        <p:txBody>
          <a:bodyPr/>
          <a:lstStyle/>
          <a:p>
            <a:pPr lvl="0"/>
            <a:r>
              <a:rPr/>
              <a:t>체험학습 종료 후 10일 이내에 실제 집행 내역을 정산하고 잔액 발생 시 학부모에게 신속하게 환불하여 수익자 부담 경비의 투명성 확보,</a:t>
            </a:r>
          </a:p>
          <a:p>
            <a:pPr lvl="0"/>
            <a:r>
              <a:rPr/>
              <a:t>만족도 설문 조사 결과를 바탕으로 숙박, 식사, 프로그램, 안전 관리 전반에 대한 평가 보고서를 작성하고 이를 내부 결재로 확정,</a:t>
            </a:r>
          </a:p>
          <a:p>
            <a:pPr lvl="0"/>
            <a:r>
              <a:rPr/>
              <a:t>학생 1인당 소요 경비와 만족도 수치를 포함한 운영 실적을 활동 종료 14일 이내에 도교육청 홈페이지에 탑재하여 대외적 신뢰 구축,</a:t>
            </a:r>
          </a:p>
          <a:p>
            <a:pPr lvl="0"/>
            <a:r>
              <a:rPr/>
              <a:t>평가회에서 도출된 개선 사항과 인솔 교원의 의견을 다음 학년도 현장체험학습 계획 수립 시 기초 자료로 활용하여 운영의 연속성 확보,</a:t>
            </a:r>
          </a:p>
          <a:p>
            <a:pPr lvl="0"/>
            <a:r>
              <a:rPr/>
              <a:t>학생들이 작성한 탐방 일지와 인문학 보고서를 학교 소식지나 홈페이지에 공유하여 교육 활동의 성과를 확산하고 자기주도적 학습 마무리,</a:t>
            </a:r>
          </a:p>
          <a:p>
            <a:pPr lvl="0" indent="0" marL="0">
              <a:buNone/>
            </a:pPr>
            <a:r>
              <a:rPr b="1"/>
              <a:t>[사후 관리 완료 인포그래픽]</a:t>
            </a:r>
            <a:r>
              <a:rPr/>
              <a:t> [경비 정산] —&gt; [만족도 분석] —&gt; [결과 탑재] —&gt; [차기 계획 환류]</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[비유를 통한 이해]</a:t>
            </a:r>
            <a:r>
              <a:rPr/>
              <a:t> 현장체험학습 운영은 </a:t>
            </a:r>
            <a:r>
              <a:rPr b="1"/>
              <a:t>‘정교한 시계 태엽’</a:t>
            </a:r>
            <a:r>
              <a:rPr/>
              <a:t>을 맞추는 과정과 같습니다. 계획, 답사, 심의, 안전이라는 각각의 톱니바퀴가 매뉴얼이라는 윤활유 속에서 정확하게 맞물려 돌아갈 때, 비로소 ’안전’과 ’교육’이라는 두 마리 토끼를 잡는 완벽한 시계가 완성됩니다. 단 하나의 톱니라도 어긋나면 시계가 멈추듯, 학생들의 안전도 매뉴얼의 작은 수칙 하나를 소홀히 할 때 위협받을 수 있음을 명심해야 합니다.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2025-12-24T06:37:38Z</dcterms:created>
  <dcterms:modified xsi:type="dcterms:W3CDTF">2025-12-24T06:37:38Z</dcterms:modified>
</cp:coreProperties>
</file>

<file path=docProps/custom.xml><?xml version="1.0" encoding="utf-8"?>
<Properties xmlns="http://schemas.openxmlformats.org/officeDocument/2006/custom-properties" xmlns:vt="http://schemas.openxmlformats.org/officeDocument/2006/docPropsVTypes"/>
</file>